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Regen</c:v>
                </c:pt>
              </c:strCache>
            </c:strRef>
          </c:tx>
          <c:cat>
            <c:strRef>
              <c:f>Sheet1!$A$2:$A$3</c:f>
              <c:strCache>
                <c:ptCount val="2"/>
                <c:pt idx="0">
                  <c:v>Jan</c:v>
                </c:pt>
                <c:pt idx="1">
                  <c:v>Feb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60</c:v>
                </c:pt>
                <c:pt idx="1">
                  <c:v>55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Begrüssung und Vorwissen sammeln.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microsoft.com/office/2007/relationships/media" Target="../media/media1.mp4"/><Relationship Id="rId4" Type="http://schemas.openxmlformats.org/officeDocument/2006/relationships/video" Target="../media/media1.mp4"/><Relationship Id="rId5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29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>
                <a:solidFill>
                  <a:srgbClr val="FFFFFF"/>
                </a:solidFill>
              </a:rPr>
              <a:t>Der Wasserkreislauf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Klasse 5 · Geografie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14:vortex dir="r"/>
      </p:transition>
    </mc:Choice>
    <mc:Fallback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Stationen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Verdunstung</a:t>
            </a:r>
          </a:p>
          <a:p>
            <a:pPr/>
            <a:r>
              <a:t>Kondensation</a:t>
            </a:r>
          </a:p>
          <a:p>
            <a:pPr lvl="1"/>
            <a:r>
              <a:t>Wolken entstehen</a:t>
            </a:r>
          </a:p>
          <a:p>
            <a:pPr/>
            <a:r>
              <a:t>Niederschlag</a:t>
            </a:r>
          </a:p>
        </p:txBody>
      </p:sp>
      <p:sp>
        <p:nvSpPr>
          <p:cNvPr id="4" name="5-Point Star 3"/>
          <p:cNvSpPr/>
          <p:nvPr/>
        </p:nvSpPr>
        <p:spPr>
          <a:xfrm>
            <a:off x="5943600" y="4114800"/>
            <a:ext cx="2286000" cy="2011680"/>
          </a:xfrm>
          <a:prstGeom prst="star5">
            <a:avLst/>
          </a:prstGeom>
          <a:solidFill>
            <a:srgbClr val="E4572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Merke!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645920"/>
            <a:ext cx="2194560" cy="164592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/>
              <p:nextCondLst/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Messwerte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645920"/>
          <a:ext cx="548640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  <a:gridCol w="1828800"/>
              </a:tblGrid>
              <a:tr h="457200">
                <a:tc>
                  <a:txBody>
                    <a:bodyPr/>
                    <a:lstStyle/>
                    <a:p>
                      <a:r>
                        <a:t>Ort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Regen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Sonne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Bern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1000 mm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1700 h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Lugano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1600 mm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2100 h</a:t>
                      </a:r>
                    </a:p>
                  </a:txBody>
                  <a:tcPr/>
                </a:tc>
              </a:tr>
            </a:tbl>
          </a:graphicData>
        </a:graphic>
      </p:graphicFrame>
      <p:cxnSp>
        <p:nvCxnSpPr>
          <p:cNvPr id="4" name="Connector 3"/>
          <p:cNvCxnSpPr/>
          <p:nvPr/>
        </p:nvCxnSpPr>
        <p:spPr>
          <a:xfrm>
            <a:off x="457200" y="3657600"/>
            <a:ext cx="8229600" cy="0"/>
          </a:xfrm>
          <a:prstGeom prst="line">
            <a:avLst/>
          </a:prstGeom>
          <a:ln w="50800">
            <a:solidFill>
              <a:srgbClr val="2E7D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5" name="Group 4"/>
          <p:cNvGrpSpPr/>
          <p:nvPr/>
        </p:nvGrpSpPr>
        <p:grpSpPr>
          <a:xfrm>
            <a:off x="914400" y="4114800"/>
            <a:ext cx="4572000" cy="1828800"/>
            <a:chOff x="914400" y="4114800"/>
            <a:chExt cx="4572000" cy="1828800"/>
          </a:xfrm>
        </p:grpSpPr>
        <p:sp>
          <p:nvSpPr>
            <p:cNvPr id="6" name="Oval 5"/>
            <p:cNvSpPr/>
            <p:nvPr/>
          </p:nvSpPr>
          <p:spPr>
            <a:xfrm>
              <a:off x="914400" y="4114800"/>
              <a:ext cx="1828800" cy="1828800"/>
            </a:xfrm>
            <a:prstGeom prst="ellipse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t>A</a:t>
              </a:r>
            </a:p>
          </p:txBody>
        </p:sp>
        <p:sp>
          <p:nvSpPr>
            <p:cNvPr id="7" name="Rectangle 6"/>
            <p:cNvSpPr/>
            <p:nvPr/>
          </p:nvSpPr>
          <p:spPr>
            <a:xfrm>
              <a:off x="3657600" y="4114800"/>
              <a:ext cx="1828800" cy="18288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t>B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000" b="1">
                <a:solidFill>
                  <a:srgbClr val="B3261E"/>
                </a:solidFill>
                <a:latin typeface="Georgia"/>
              </a:rPr>
              <a:t>Zusatz für Schnelle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457200" y="1828800"/>
          <a:ext cx="3657600" cy="27432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pic>
        <p:nvPicPr>
          <p:cNvPr id="4" name="movie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4572000" y="1828800"/>
            <a:ext cx="3657600" cy="27432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Wasserkreislauf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
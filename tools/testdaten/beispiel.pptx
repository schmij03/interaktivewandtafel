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Regen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Jan</c:v>
                </c:pt>
                <c:pt idx="1">
                  <c:v>Feb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>55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Begrüssung und Vorwissen sammeln.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Der Wasserkreislauf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Klasse 5 · Geografie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vortex dir="r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Stationen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Verdunstung</a:t>
            </a:r>
          </a:p>
          <a:p>
            <a:pPr/>
            <a:r>
              <a:t>Kondensation</a:t>
            </a:r>
          </a:p>
          <a:p>
            <a:pPr lvl="1"/>
            <a:r>
              <a:t>Wolken entstehen</a:t>
            </a:r>
          </a:p>
          <a:p>
            <a:pPr/>
            <a:r>
              <a:t>Niederschlag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5943600" y="4114800"/>
            <a:ext cx="2286000" cy="2011680"/>
          </a:xfrm>
          <a:prstGeom prst="star5">
            <a:avLst/>
          </a:prstGeom>
          <a:solidFill>
            <a:srgbClr val="E4572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Merke!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194560" cy="1645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/>
              <p:nextCondLst/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Messwerte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4592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t>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Sonne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1700 h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Lugano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1600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2100 h</a:t>
                      </a:r>
                    </a:p>
                  </a:txBody>
                  <a:tcPr>
                    <a:solidFill>
                      <a:srgbClr val="FFE082"/>
                    </a:solidFill>
                  </a:tcPr>
                </a:tc>
              </a:tr>
            </a:tbl>
          </a:graphicData>
        </a:graphic>
      </p:graphicFrame>
      <p:cxnSp>
        <p:nvCxnSpPr>
          <p:cNvPr id="4" name="Connector 3"/>
          <p:cNvCxnSpPr/>
          <p:nvPr/>
        </p:nvCxnSpPr>
        <p:spPr>
          <a:xfrm>
            <a:off x="457200" y="3657600"/>
            <a:ext cx="8229600" cy="0"/>
          </a:xfrm>
          <a:prstGeom prst="line">
            <a:avLst/>
          </a:prstGeom>
          <a:ln w="5080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/>
          <p:cNvGrpSpPr/>
          <p:nvPr/>
        </p:nvGrpSpPr>
        <p:grpSpPr>
          <a:xfrm>
            <a:off x="914400" y="4114800"/>
            <a:ext cx="4572000" cy="1828800"/>
            <a:chOff x="914400" y="4114800"/>
            <a:chExt cx="4572000" cy="1828800"/>
          </a:xfrm>
        </p:grpSpPr>
        <p:sp>
          <p:nvSpPr>
            <p:cNvPr id="6" name="Oval 5"/>
            <p:cNvSpPr/>
            <p:nvPr/>
          </p:nvSpPr>
          <p:spPr>
            <a:xfrm>
              <a:off x="914400" y="4114800"/>
              <a:ext cx="1828800" cy="18288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t>A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657600" y="4114800"/>
              <a:ext cx="1828800" cy="18288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t>B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B3261E"/>
                </a:solidFill>
                <a:latin typeface="Georgia"/>
              </a:rPr>
              <a:t>Zusatz für Schnelle</a:t>
            </a:r>
          </a:p>
          <a:p>
            <a:r>
              <a:rPr sz="2000" b="0">
                <a:solidFill>
                  <a:srgbClr val="1F2933"/>
                </a:solidFill>
                <a:latin typeface="Georgia"/>
              </a:rPr>
              <a:t>nur </a:t>
            </a:r>
            <a:r>
              <a:rPr sz="2000" b="0">
                <a:solidFill>
                  <a:srgbClr val="065A82"/>
                </a:solidFill>
                <a:latin typeface="Georgia"/>
              </a:rPr>
              <a:t>kurz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828800"/>
          <a:ext cx="3657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4" name="movi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572000" y="1828800"/>
            <a:ext cx="3657600" cy="2743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Wasserkreislauf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